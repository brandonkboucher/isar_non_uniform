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4270-DEE5-6F97-76FF-A10AC346E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FF6DA-9130-EAA9-42CF-95173431F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B59F9-0871-345A-4386-E9931B07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667D-7B72-F4CA-45F1-15D3A525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220E0-A9B5-82DF-044D-D70ADBA8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9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14E7-FAA6-6B9C-4C52-03646E86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ECC4-1E1A-0FFA-C9A5-2C2A6A26E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7DC38-2195-21FB-8D6E-B9F9EED9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5B385-09DE-A870-DCC2-0018CD61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8AB3-97EA-EE6F-296C-499F280A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8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9A70-B4E0-9AE4-AF78-1EFDC0B4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05DB0-12F6-F178-9613-B342A3CB6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671F5-D0AD-6220-57DE-24B336E5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2F9E-085F-085A-FB04-A9F52B53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B307-3E5B-CEB9-D7BF-49A9917C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20E8-BA56-B699-068D-CF162D7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23E43-F552-366F-678C-EDE0B8167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05B80-EA34-F183-B7B1-53011D066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A9E64-2E84-D47E-8F69-F6EA2358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A99E3-D92E-60F2-7BBE-80ED13C5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01D43-3514-825A-B9A4-B65EEEB2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2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2908-62BB-B2C3-9C6F-86391888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D77E5-982F-0A68-BA98-C901D8FBA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E32D3-456A-FFDA-5883-3D187A816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17468-ED4E-9207-6D85-43698B4B8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242E5-D04D-9656-E2AE-89ABE731E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0D1B4-4F70-F968-797C-61FE85AB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A580B-7B19-A702-DA2E-855C1507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3B108-5BEA-008E-FDF9-E9901849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7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B40A-D89B-FF2F-4AFE-CBACCB34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89B8E-1D15-963A-AB9F-94E81186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23DBD-B8CE-8987-4792-0F69122A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7C564-0722-57BF-2061-8D744532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5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24BEBD-6911-A6AB-F9C7-8B03A6D2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0DCFF-7232-76AF-1DE7-9C20A8FD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512C4-CC6F-9272-15C5-BD622443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0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F59C-309E-4BA0-EDCB-957BB4AA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47DE-684B-6F59-D99D-466D4A763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939E3-DCEF-0175-83C1-D39AFF481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401-0D54-B062-1FDA-0C8E673B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BD82F-5180-B126-C37C-EFAEC7CA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8307B-B27E-9212-BDE9-41F757C0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6E9B-74BB-6D44-336C-C9223F55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D9CE1-8151-8C90-03C5-BB9C9AD2D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B6476-82D3-3D50-5017-C3C5D0ED0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FD2D-079D-43E7-C343-8D3EC826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CFCAA-3A3C-1322-5984-4FA26E11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DD71D-BA33-530C-8278-2435DE2A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6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5636-BA2B-6673-5E70-6CA9F890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3207D-9438-F506-7361-96BB0B7E3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74326-08EB-7FEC-1407-279C821F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1C501-E9F8-D1C5-FF77-C64F86EC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F78ED-D8A6-F798-21CD-4C802206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5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DF345-8C05-D76D-1D35-3473F4A33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DBF8B-64B1-9A6E-7171-233F1D9B0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7CA4F-5CC9-83D8-B9CA-09A6D92E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ADF66-1B3B-592D-0466-D46FE455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510B8-B2A3-3858-B8F8-7189F81C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2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F4C86-B69F-AC9D-C232-ED15307C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A4702-406F-7BFA-C0BF-138A2E2C3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A04D6-1F2A-8586-3B56-C9E052F48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E5C76-E614-4809-82F0-E7E6429D6DB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4BE2D-132F-D901-ECA6-35AA47078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9A323-6E61-EF40-EB26-B56FFBEAA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6E889-341D-4C46-A49A-2D1167AA1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4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0E7A-8C20-9E9D-56C4-8C6EFEDD7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ISAR Test Matrix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B81D8-D83E-2260-CE02-EDD688E17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Greg Showman</a:t>
            </a:r>
          </a:p>
          <a:p>
            <a:r>
              <a:rPr lang="en-US" dirty="0"/>
              <a:t>25 June 2026</a:t>
            </a:r>
          </a:p>
        </p:txBody>
      </p:sp>
    </p:spTree>
    <p:extLst>
      <p:ext uri="{BB962C8B-B14F-4D97-AF65-F5344CB8AC3E}">
        <p14:creationId xmlns:p14="http://schemas.microsoft.com/office/powerpoint/2010/main" val="1545296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5886E8-0E1F-6593-D3E8-32346EB16F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484221"/>
              </p:ext>
            </p:extLst>
          </p:nvPr>
        </p:nvGraphicFramePr>
        <p:xfrm>
          <a:off x="265470" y="461656"/>
          <a:ext cx="11661059" cy="550164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717823">
                  <a:extLst>
                    <a:ext uri="{9D8B030D-6E8A-4147-A177-3AD203B41FA5}">
                      <a16:colId xmlns:a16="http://schemas.microsoft.com/office/drawing/2014/main" val="2566482199"/>
                    </a:ext>
                  </a:extLst>
                </a:gridCol>
                <a:gridCol w="1101146">
                  <a:extLst>
                    <a:ext uri="{9D8B030D-6E8A-4147-A177-3AD203B41FA5}">
                      <a16:colId xmlns:a16="http://schemas.microsoft.com/office/drawing/2014/main" val="2692073061"/>
                    </a:ext>
                  </a:extLst>
                </a:gridCol>
                <a:gridCol w="1022555">
                  <a:extLst>
                    <a:ext uri="{9D8B030D-6E8A-4147-A177-3AD203B41FA5}">
                      <a16:colId xmlns:a16="http://schemas.microsoft.com/office/drawing/2014/main" val="4216729898"/>
                    </a:ext>
                  </a:extLst>
                </a:gridCol>
                <a:gridCol w="1061883">
                  <a:extLst>
                    <a:ext uri="{9D8B030D-6E8A-4147-A177-3AD203B41FA5}">
                      <a16:colId xmlns:a16="http://schemas.microsoft.com/office/drawing/2014/main" val="2879292642"/>
                    </a:ext>
                  </a:extLst>
                </a:gridCol>
                <a:gridCol w="1189704">
                  <a:extLst>
                    <a:ext uri="{9D8B030D-6E8A-4147-A177-3AD203B41FA5}">
                      <a16:colId xmlns:a16="http://schemas.microsoft.com/office/drawing/2014/main" val="1691206831"/>
                    </a:ext>
                  </a:extLst>
                </a:gridCol>
                <a:gridCol w="1140542">
                  <a:extLst>
                    <a:ext uri="{9D8B030D-6E8A-4147-A177-3AD203B41FA5}">
                      <a16:colId xmlns:a16="http://schemas.microsoft.com/office/drawing/2014/main" val="2365895395"/>
                    </a:ext>
                  </a:extLst>
                </a:gridCol>
                <a:gridCol w="1061883">
                  <a:extLst>
                    <a:ext uri="{9D8B030D-6E8A-4147-A177-3AD203B41FA5}">
                      <a16:colId xmlns:a16="http://schemas.microsoft.com/office/drawing/2014/main" val="3251375818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3449073069"/>
                    </a:ext>
                  </a:extLst>
                </a:gridCol>
                <a:gridCol w="2024940">
                  <a:extLst>
                    <a:ext uri="{9D8B030D-6E8A-4147-A177-3AD203B41FA5}">
                      <a16:colId xmlns:a16="http://schemas.microsoft.com/office/drawing/2014/main" val="3417731434"/>
                    </a:ext>
                  </a:extLst>
                </a:gridCol>
                <a:gridCol w="1229537">
                  <a:extLst>
                    <a:ext uri="{9D8B030D-6E8A-4147-A177-3AD203B41FA5}">
                      <a16:colId xmlns:a16="http://schemas.microsoft.com/office/drawing/2014/main" val="839376149"/>
                    </a:ext>
                  </a:extLst>
                </a:gridCol>
              </a:tblGrid>
              <a:tr h="615601">
                <a:tc>
                  <a:txBody>
                    <a:bodyPr/>
                    <a:lstStyle/>
                    <a:p>
                      <a:r>
                        <a:rPr lang="en-US" sz="1100" dirty="0"/>
                        <a:t>Case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 of Ambiguities Having Scatterers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 of Ambiguities In Image 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Scatterer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Image Former Grid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Angle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Image Formation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95681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On-Grid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BP-EQ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Good 0-1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982012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On-Grid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Good 0-1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242667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On-Grid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Accelerating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BP-EQ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Good 0-1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41932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On-Grid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Accelerating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Good 0-1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212532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BP-EQ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Good image with sidelobes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606265"/>
                  </a:ext>
                </a:extLst>
              </a:tr>
              <a:tr h="344737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Good image with multiple “on” pixels per scatterer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948142"/>
                  </a:ext>
                </a:extLst>
              </a:tr>
              <a:tr h="344737">
                <a:tc>
                  <a:txBody>
                    <a:bodyPr/>
                    <a:lstStyle/>
                    <a:p>
                      <a:r>
                        <a:rPr lang="en-US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Oversampled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BP-EQ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Improved interpretability </a:t>
                      </a:r>
                      <a:r>
                        <a:rPr lang="en-US" sz="1100" dirty="0" err="1"/>
                        <a:t>w.r.t.</a:t>
                      </a:r>
                      <a:r>
                        <a:rPr lang="en-US" sz="1100" dirty="0"/>
                        <a:t> Case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562291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Oversampled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Improved match </a:t>
                      </a:r>
                      <a:r>
                        <a:rPr lang="en-US" sz="1100" dirty="0" err="1"/>
                        <a:t>w.r.t.</a:t>
                      </a:r>
                      <a:r>
                        <a:rPr lang="en-US" sz="1100" dirty="0"/>
                        <a:t> Case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70647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Oversampled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Accelerating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BP-EQ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Same as Case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39428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Oversampled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Accelerating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Same as Case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066126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962851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656094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58435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291538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05915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913587"/>
                  </a:ext>
                </a:extLst>
              </a:tr>
              <a:tr h="20930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45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5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F4B6-F213-2DC5-3731-6E9D2AB2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CEDA5-A0F5-B7F8-A176-0E832041C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 fontScale="62500" lnSpcReduction="20000"/>
          </a:bodyPr>
          <a:lstStyle/>
          <a:p>
            <a:r>
              <a:rPr lang="en-US" u="sng" dirty="0"/>
              <a:t>Number of Ambiguities Having Scatterers</a:t>
            </a:r>
            <a:r>
              <a:rPr lang="en-US" dirty="0"/>
              <a:t>:  Number of Doppler/</a:t>
            </a:r>
            <a:r>
              <a:rPr lang="en-US" dirty="0" err="1"/>
              <a:t>Crossrange</a:t>
            </a:r>
            <a:r>
              <a:rPr lang="en-US" dirty="0"/>
              <a:t> ambiguities containing one or more </a:t>
            </a:r>
            <a:r>
              <a:rPr lang="en-US" dirty="0" err="1"/>
              <a:t>scatteres</a:t>
            </a:r>
            <a:r>
              <a:rPr lang="en-US" dirty="0"/>
              <a:t>. If just 1, all scatterers are in the “zeroth” ambiguity.  Unambiguous Doppler/</a:t>
            </a:r>
            <a:r>
              <a:rPr lang="en-US" dirty="0" err="1"/>
              <a:t>crossrange</a:t>
            </a:r>
            <a:r>
              <a:rPr lang="en-US" dirty="0"/>
              <a:t> extent is defined with respect to the constant angle rate collection case.</a:t>
            </a:r>
          </a:p>
          <a:p>
            <a:r>
              <a:rPr lang="en-US" u="sng" dirty="0"/>
              <a:t>Number of Ambiguities In Image Former</a:t>
            </a:r>
            <a:r>
              <a:rPr lang="en-US" dirty="0"/>
              <a:t>:  The number of </a:t>
            </a:r>
            <a:r>
              <a:rPr lang="en-US" dirty="0" err="1"/>
              <a:t>crossrange</a:t>
            </a:r>
            <a:r>
              <a:rPr lang="en-US" dirty="0"/>
              <a:t> ambiguities represented in the image formation “target grid.”</a:t>
            </a:r>
          </a:p>
          <a:p>
            <a:r>
              <a:rPr lang="en-US" u="sng" dirty="0"/>
              <a:t>Scatterer Locations</a:t>
            </a:r>
            <a:r>
              <a:rPr lang="en-US" dirty="0"/>
              <a:t>:  On the grid or off the grid provided by a critically-sampled image former.  If off this grid, scatterer offset from grid is random and uniformly distributed, so that there is no underlying grid.</a:t>
            </a:r>
          </a:p>
          <a:p>
            <a:r>
              <a:rPr lang="en-US" u="sng" dirty="0"/>
              <a:t>Image Former Grid Density</a:t>
            </a:r>
            <a:r>
              <a:rPr lang="en-US" dirty="0"/>
              <a:t>:  Critically-sampled in downrange and </a:t>
            </a:r>
            <a:r>
              <a:rPr lang="en-US" dirty="0" err="1"/>
              <a:t>crossrange</a:t>
            </a:r>
            <a:r>
              <a:rPr lang="en-US" dirty="0"/>
              <a:t> respect to downrange and </a:t>
            </a:r>
            <a:r>
              <a:rPr lang="en-US" dirty="0" err="1"/>
              <a:t>crossrange</a:t>
            </a:r>
            <a:r>
              <a:rPr lang="en-US" dirty="0"/>
              <a:t> resolutions, or oversampled in both dimensions.  (Degree of oversampling TBD and may be varied parametrically.)</a:t>
            </a:r>
          </a:p>
          <a:p>
            <a:r>
              <a:rPr lang="en-US" u="sng" dirty="0"/>
              <a:t>Angle Rate</a:t>
            </a:r>
            <a:r>
              <a:rPr lang="en-US" dirty="0"/>
              <a:t>:  During data collection; constant or accelerating.</a:t>
            </a:r>
          </a:p>
          <a:p>
            <a:r>
              <a:rPr lang="en-US" u="sng" dirty="0"/>
              <a:t>Noise</a:t>
            </a:r>
            <a:r>
              <a:rPr lang="en-US" dirty="0"/>
              <a:t>:  Thermal noise level; none or non-zero.  (Non-zero level TBD and may be varied parametrically.)</a:t>
            </a:r>
          </a:p>
          <a:p>
            <a:r>
              <a:rPr lang="en-US" u="sng" dirty="0"/>
              <a:t>BP-EQ</a:t>
            </a:r>
            <a:r>
              <a:rPr lang="en-US" dirty="0"/>
              <a:t>:  </a:t>
            </a:r>
            <a:r>
              <a:rPr lang="en-US" dirty="0" err="1"/>
              <a:t>Backprojection</a:t>
            </a:r>
            <a:r>
              <a:rPr lang="en-US" dirty="0"/>
              <a:t> with angle rate equalization.  (Brandon successfully implemented this some months ago.  Did we call it something else???)</a:t>
            </a:r>
          </a:p>
          <a:p>
            <a:r>
              <a:rPr lang="en-US" u="sng" dirty="0"/>
              <a:t>OMP</a:t>
            </a:r>
            <a:r>
              <a:rPr lang="en-US" dirty="0"/>
              <a:t>:  Orthogonal Matched Pursuit.</a:t>
            </a:r>
          </a:p>
          <a:p>
            <a:r>
              <a:rPr lang="en-US" u="sng" dirty="0"/>
              <a:t>Prediction</a:t>
            </a:r>
            <a:r>
              <a:rPr lang="en-US" dirty="0"/>
              <a:t>:  Brandon, what do you expect to see?  “0-1” means pixels will be either off or on.</a:t>
            </a:r>
          </a:p>
          <a:p>
            <a:r>
              <a:rPr lang="en-US" u="sng" dirty="0"/>
              <a:t>Results</a:t>
            </a:r>
            <a:r>
              <a:rPr lang="en-US" dirty="0"/>
              <a:t>:  What you got, and compare/contrast with predictions.</a:t>
            </a:r>
          </a:p>
        </p:txBody>
      </p:sp>
    </p:spTree>
    <p:extLst>
      <p:ext uri="{BB962C8B-B14F-4D97-AF65-F5344CB8AC3E}">
        <p14:creationId xmlns:p14="http://schemas.microsoft.com/office/powerpoint/2010/main" val="299617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411</Words>
  <Application>Microsoft Office PowerPoint</Application>
  <PresentationFormat>Widescreen</PresentationFormat>
  <Paragraphs>114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ISAR Test Matrix</vt:lpstr>
      <vt:lpstr>PowerPoint Presentation</vt:lpstr>
      <vt:lpstr>Definitions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g.showman25@outlook.com</dc:creator>
  <cp:lastModifiedBy>g.showman25@outlook.com</cp:lastModifiedBy>
  <cp:revision>28</cp:revision>
  <dcterms:created xsi:type="dcterms:W3CDTF">2025-07-21T16:02:34Z</dcterms:created>
  <dcterms:modified xsi:type="dcterms:W3CDTF">2026-06-25T14:02:42Z</dcterms:modified>
</cp:coreProperties>
</file>